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JbnrVx8BW/Brp8TuN2m2553La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100584"/>
            <a:ext cx="12191695" cy="228600"/>
          </a:xfrm>
          <a:prstGeom prst="rect">
            <a:avLst/>
          </a:prstGeom>
          <a:solidFill>
            <a:srgbClr val="FCE3F0"/>
          </a:solidFill>
          <a:ln cap="flat" cmpd="sng" w="12700">
            <a:solidFill>
              <a:srgbClr val="FCE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947850" y="3353575"/>
            <a:ext cx="429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900"/>
              <a:buFont typeface="Play"/>
              <a:buNone/>
            </a:pPr>
            <a:r>
              <a:rPr b="1" lang="en-US" sz="29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PROYECTO BIG CURVAS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039690" y="4350900"/>
            <a:ext cx="389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Presentación de avance intermedio Capstone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402953" y="3902275"/>
            <a:ext cx="324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Sistema de ventas y control de inventario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549640" y="6858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ssets_bigcurvas/image1.jp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8832" y="1595640"/>
            <a:ext cx="2354829" cy="155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2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2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Integrantes del proyecto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ROLES PRINCIPALES DEFINIDOS PARA ORGANIZAR EL TRABAJO COLABORATIVO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874520"/>
            <a:ext cx="3557930" cy="3017520"/>
          </a:xfrm>
          <a:prstGeom prst="rect">
            <a:avLst/>
          </a:prstGeom>
          <a:solidFill>
            <a:srgbClr val="FFF7FB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31520" y="21031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" y="2468880"/>
            <a:ext cx="310073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Matías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2907792"/>
            <a:ext cx="310073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Líder / Coordinador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Coordinación general, documentación y seguimiento del proyecto.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316882" y="1874520"/>
            <a:ext cx="3557930" cy="3017520"/>
          </a:xfrm>
          <a:prstGeom prst="rect">
            <a:avLst/>
          </a:prstGeom>
          <a:solidFill>
            <a:srgbClr val="EAF3FF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45482" y="21031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166A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45482" y="2468880"/>
            <a:ext cx="310073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Misael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45482" y="2907792"/>
            <a:ext cx="310073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Análisis y diseño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Apoyo en levantamiento, diseño funcional y estructura de la solución.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130845" y="1874520"/>
            <a:ext cx="3557930" cy="301752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359445" y="21031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B6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E9B6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359445" y="2468880"/>
            <a:ext cx="310073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Cristopher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359445" y="2907792"/>
            <a:ext cx="310073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Desarrollo, integración y pruebas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Implementación técnica, integración de módulos y pruebas.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280160" y="566928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Los roles son principales y no excluyentes; el trabajo se realiza de forma colaborativa.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p3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3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Descripción del proyecto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PROBLEMA Y PROPUESTA DE SOLUCIÓN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77240" y="1828800"/>
            <a:ext cx="4023360" cy="2286000"/>
          </a:xfrm>
          <a:prstGeom prst="rect">
            <a:avLst/>
          </a:prstGeom>
          <a:solidFill>
            <a:srgbClr val="FFF9F3"/>
          </a:solidFill>
          <a:ln cap="flat" cmpd="sng" w="12700">
            <a:solidFill>
              <a:srgbClr val="F4D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77240" y="1828800"/>
            <a:ext cx="54864" cy="2286000"/>
          </a:xfrm>
          <a:prstGeom prst="rect">
            <a:avLst/>
          </a:prstGeom>
          <a:solidFill>
            <a:srgbClr val="F28C28"/>
          </a:solidFill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78408" y="2029968"/>
            <a:ext cx="3703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Problema o dolor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78408" y="2395728"/>
            <a:ext cx="37033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Big Curvas gestiona actualmente sus ventas e inventario de forma principalmente manual, lo que dificulta mantener un control actualizado del stock entre la tienda física y el canal online. Esto ha generado diferencias de inventario, sobreventas y dificultades para tomar decisiones de reposición.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166360" y="2395728"/>
            <a:ext cx="713232" cy="822960"/>
          </a:xfrm>
          <a:prstGeom prst="chevron">
            <a:avLst>
              <a:gd fmla="val 50000" name="adj"/>
            </a:avLst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0" y="1828800"/>
            <a:ext cx="4480560" cy="228600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CDE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00800" y="1828800"/>
            <a:ext cx="54864" cy="2286000"/>
          </a:xfrm>
          <a:prstGeom prst="rect">
            <a:avLst/>
          </a:prstGeom>
          <a:solidFill>
            <a:srgbClr val="2E9B68"/>
          </a:solidFill>
          <a:ln cap="flat" cmpd="sng" w="12700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601968" y="2029968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601968" y="2395728"/>
            <a:ext cx="41605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Desarrollar un sistema de ventas con control de inventario que permita registrar las ventas, actualizar automáticamente el stock y visualizar información relevante mediante un dashboard para apoyar la gestión del negocio.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508760" y="489204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Coherencia entre problema, objetivos y solución implementada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508760" y="532180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La solución busca pasar de registros manuales a un flujo digital controlado y medible.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4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4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Situación actual de Big Curvas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LOGÍSTICA E INVENTARIO DESINTEGRADO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roblema_de_inventario_integrado.png"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3220" y="1572768"/>
            <a:ext cx="64008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5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5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Objetivos del proyecto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OBJETIVO GENERAL Y OBJETIVOS ESPECÍFICOS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31520" y="1508760"/>
            <a:ext cx="10698480" cy="1097280"/>
          </a:xfrm>
          <a:prstGeom prst="rect">
            <a:avLst/>
          </a:prstGeom>
          <a:solidFill>
            <a:srgbClr val="FBE6F1"/>
          </a:solidFill>
          <a:ln cap="flat" cmpd="sng" w="12700">
            <a:solidFill>
              <a:srgbClr val="F7C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31520" y="1508760"/>
            <a:ext cx="54864" cy="1097280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32688" y="1709928"/>
            <a:ext cx="10378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32688" y="2075688"/>
            <a:ext cx="10378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Desarrollar un sistema de ventas y control de inventario para Big Curvas que permita mejorar la gestión del stock y facilitar el seguimiento de las ventas del negocio.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22960" y="3063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417320" y="3081528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Digitalizar el registro y control del inventario.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172200" y="3063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766560" y="3081528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Implementar un registro de ventas con descuento automático de stock.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22960" y="4206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417320" y="4224528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Incorporar un dashboard con información de ventas, stock y rotación de productos.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172200" y="4206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766560" y="4224528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Definir perfiles de usuario para administración y registro de ventas.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6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6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Alcances y limitaciones del proyecto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77240" y="1508760"/>
            <a:ext cx="5120640" cy="416052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CDE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77240" y="1508760"/>
            <a:ext cx="54864" cy="4160520"/>
          </a:xfrm>
          <a:prstGeom prst="rect">
            <a:avLst/>
          </a:prstGeom>
          <a:solidFill>
            <a:srgbClr val="2E9B68"/>
          </a:solidFill>
          <a:ln cap="flat" cmpd="sng" w="12700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978408" y="1709928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Incluye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78408" y="2075688"/>
            <a:ext cx="48006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Gestión de productos, categorías y variantes</a:t>
            </a:r>
            <a:endParaRPr sz="140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Stock por sucursal: Rancagua y Bodega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Registro de ventas con descuento automático</a:t>
            </a:r>
            <a:endParaRPr sz="140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Gestión de clientes</a:t>
            </a:r>
            <a:endParaRPr sz="140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Dashboard conectado a PostgreSQL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Administración de stock y stock mínimo</a:t>
            </a:r>
            <a:endParaRPr sz="140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309359" y="1508760"/>
            <a:ext cx="5717799" cy="4160520"/>
          </a:xfrm>
          <a:prstGeom prst="rect">
            <a:avLst/>
          </a:prstGeom>
          <a:solidFill>
            <a:srgbClr val="FFF3E6"/>
          </a:solidFill>
          <a:ln cap="flat" cmpd="sng" w="12700">
            <a:solidFill>
              <a:srgbClr val="F4D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309360" y="1508760"/>
            <a:ext cx="54864" cy="4160520"/>
          </a:xfrm>
          <a:prstGeom prst="rect">
            <a:avLst/>
          </a:prstGeom>
          <a:solidFill>
            <a:srgbClr val="F28C28"/>
          </a:solidFill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510528" y="1709928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Por definir / fuera del alcance actual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510528" y="2075688"/>
            <a:ext cx="5432656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•Integración automática con el canal online aún en evaluación técnica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Sistema enfocado inicialmente en la operación actual de Big Curvas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No se contempla reemplazar completamente la plataforma e-commerce existente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7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7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Metodología de trabajo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ENFOQUE ÁGIL, ITERATIVO E INCREMENTAL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77240" y="16002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El trabajo se organiza en ciclos cortos, con validaciones directas con la empresa y ajustes según feedback.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77240" y="2423160"/>
            <a:ext cx="256032" cy="228600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97280" y="2441448"/>
            <a:ext cx="17062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77240" y="2779776"/>
            <a:ext cx="2026310" cy="960120"/>
          </a:xfrm>
          <a:prstGeom prst="rect">
            <a:avLst/>
          </a:prstGeom>
          <a:solidFill>
            <a:srgbClr val="FAFAFC"/>
          </a:solidFill>
          <a:ln cap="flat" cmpd="sng" w="12700">
            <a:solidFill>
              <a:srgbClr val="E9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60"/>
              <a:buFont typeface="Arial"/>
              <a:buNone/>
            </a:pPr>
            <a:r>
              <a:rPr lang="en-US" sz="76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Levantamiento de requerimientos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922422" y="2423160"/>
            <a:ext cx="256032" cy="22860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42462" y="2441448"/>
            <a:ext cx="17062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2922422" y="2779776"/>
            <a:ext cx="2026310" cy="960120"/>
          </a:xfrm>
          <a:prstGeom prst="rect">
            <a:avLst/>
          </a:prstGeom>
          <a:solidFill>
            <a:srgbClr val="FAFAFC"/>
          </a:solidFill>
          <a:ln cap="flat" cmpd="sng" w="12700">
            <a:solidFill>
              <a:srgbClr val="E9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60"/>
              <a:buFont typeface="Arial"/>
              <a:buNone/>
            </a:pPr>
            <a:r>
              <a:rPr lang="en-US" sz="76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Mockups y definición funcional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67605" y="2423160"/>
            <a:ext cx="256032" cy="228600"/>
          </a:xfrm>
          <a:prstGeom prst="rect">
            <a:avLst/>
          </a:prstGeom>
          <a:solidFill>
            <a:srgbClr val="2E9B6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387645" y="2441448"/>
            <a:ext cx="17062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067605" y="2779776"/>
            <a:ext cx="2026310" cy="960120"/>
          </a:xfrm>
          <a:prstGeom prst="rect">
            <a:avLst/>
          </a:prstGeom>
          <a:solidFill>
            <a:srgbClr val="FAFAFC"/>
          </a:solidFill>
          <a:ln cap="flat" cmpd="sng" w="12700">
            <a:solidFill>
              <a:srgbClr val="E9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60"/>
              <a:buFont typeface="Arial"/>
              <a:buNone/>
            </a:pPr>
            <a:r>
              <a:rPr lang="en-US" sz="76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Revisión con la empresa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212787" y="2423160"/>
            <a:ext cx="256032" cy="228600"/>
          </a:xfrm>
          <a:prstGeom prst="rect">
            <a:avLst/>
          </a:prstGeom>
          <a:solidFill>
            <a:srgbClr val="6B4B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532827" y="2441448"/>
            <a:ext cx="17062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212787" y="2779776"/>
            <a:ext cx="2026310" cy="960120"/>
          </a:xfrm>
          <a:prstGeom prst="rect">
            <a:avLst/>
          </a:prstGeom>
          <a:solidFill>
            <a:srgbClr val="FAFAFC"/>
          </a:solidFill>
          <a:ln cap="flat" cmpd="sng" w="12700">
            <a:solidFill>
              <a:srgbClr val="E9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60"/>
              <a:buFont typeface="Arial"/>
              <a:buNone/>
            </a:pPr>
            <a:r>
              <a:rPr lang="en-US" sz="76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Implementación incremental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9357970" y="2423160"/>
            <a:ext cx="256032" cy="2286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9678010" y="2441448"/>
            <a:ext cx="17062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Mejora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357970" y="2779776"/>
            <a:ext cx="2026310" cy="960120"/>
          </a:xfrm>
          <a:prstGeom prst="rect">
            <a:avLst/>
          </a:prstGeom>
          <a:solidFill>
            <a:srgbClr val="FAFAFC"/>
          </a:solidFill>
          <a:ln cap="flat" cmpd="sng" w="12700">
            <a:solidFill>
              <a:srgbClr val="E9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60"/>
              <a:buFont typeface="Arial"/>
              <a:buNone/>
            </a:pPr>
            <a:r>
              <a:rPr lang="en-US" sz="76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Ajustes según feedback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920240" y="4800600"/>
            <a:ext cx="8412480" cy="914400"/>
          </a:xfrm>
          <a:prstGeom prst="rect">
            <a:avLst/>
          </a:prstGeom>
          <a:solidFill>
            <a:srgbClr val="FAFAFC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920240" y="4800600"/>
            <a:ext cx="54864" cy="914400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121408" y="5001768"/>
            <a:ext cx="8092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Estado del ciclo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121408" y="5367528"/>
            <a:ext cx="8092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Ya se realizó el levantamiento de requerimientos, el diseño de mockups y una segunda validación con Belén. Actualmente el proyecto se encuentra en desarrollo intermedio.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8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8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Cronograma y estado actual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ESTADO ACTUAL DEL PROYECTO: DESARROLLO INTERMEDIO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85800" y="1600200"/>
            <a:ext cx="256032" cy="256032"/>
          </a:xfrm>
          <a:prstGeom prst="rect">
            <a:avLst/>
          </a:prstGeom>
          <a:solidFill>
            <a:srgbClr val="2E9B6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014984" y="160934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85800" y="1984248"/>
            <a:ext cx="1097280" cy="228600"/>
          </a:xfrm>
          <a:prstGeom prst="rect">
            <a:avLst/>
          </a:prstGeom>
          <a:solidFill>
            <a:srgbClr val="EAF7F1"/>
          </a:solidFill>
          <a:ln cap="flat" cmpd="sng" w="9525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B68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2E9B68"/>
                </a:solidFill>
                <a:latin typeface="Arial"/>
                <a:ea typeface="Arial"/>
                <a:cs typeface="Arial"/>
                <a:sym typeface="Arial"/>
              </a:rPr>
              <a:t>COMPLETADO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2560320" y="1600200"/>
            <a:ext cx="256032" cy="256032"/>
          </a:xfrm>
          <a:prstGeom prst="rect">
            <a:avLst/>
          </a:prstGeom>
          <a:solidFill>
            <a:srgbClr val="2E9B6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889504" y="160934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560320" y="1984248"/>
            <a:ext cx="1097280" cy="228600"/>
          </a:xfrm>
          <a:prstGeom prst="rect">
            <a:avLst/>
          </a:prstGeom>
          <a:solidFill>
            <a:srgbClr val="EAF7F1"/>
          </a:solidFill>
          <a:ln cap="flat" cmpd="sng" w="9525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B68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2E9B68"/>
                </a:solidFill>
                <a:latin typeface="Arial"/>
                <a:ea typeface="Arial"/>
                <a:cs typeface="Arial"/>
                <a:sym typeface="Arial"/>
              </a:rPr>
              <a:t>COMPLETADO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434840" y="1600200"/>
            <a:ext cx="256032" cy="256032"/>
          </a:xfrm>
          <a:prstGeom prst="rect">
            <a:avLst/>
          </a:prstGeom>
          <a:solidFill>
            <a:srgbClr val="2E9B6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764024" y="160934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434840" y="1984248"/>
            <a:ext cx="1097280" cy="228600"/>
          </a:xfrm>
          <a:prstGeom prst="rect">
            <a:avLst/>
          </a:prstGeom>
          <a:solidFill>
            <a:srgbClr val="EAF7F1"/>
          </a:solidFill>
          <a:ln cap="flat" cmpd="sng" w="9525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B68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2E9B68"/>
                </a:solidFill>
                <a:latin typeface="Arial"/>
                <a:ea typeface="Arial"/>
                <a:cs typeface="Arial"/>
                <a:sym typeface="Arial"/>
              </a:rPr>
              <a:t>COMPLETADO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309360" y="1600200"/>
            <a:ext cx="256032" cy="256032"/>
          </a:xfrm>
          <a:prstGeom prst="rect">
            <a:avLst/>
          </a:prstGeom>
          <a:solidFill>
            <a:srgbClr val="2E9B6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638544" y="160934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Tecnologías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309360" y="1984248"/>
            <a:ext cx="1097280" cy="228600"/>
          </a:xfrm>
          <a:prstGeom prst="rect">
            <a:avLst/>
          </a:prstGeom>
          <a:solidFill>
            <a:srgbClr val="EAF7F1"/>
          </a:solidFill>
          <a:ln cap="flat" cmpd="sng" w="9525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B68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2E9B68"/>
                </a:solidFill>
                <a:latin typeface="Arial"/>
                <a:ea typeface="Arial"/>
                <a:cs typeface="Arial"/>
                <a:sym typeface="Arial"/>
              </a:rPr>
              <a:t>COMPLETADO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183880" y="1600200"/>
            <a:ext cx="256032" cy="25603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8513064" y="160934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8183880" y="1984248"/>
            <a:ext cx="1097280" cy="228600"/>
          </a:xfrm>
          <a:prstGeom prst="rect">
            <a:avLst/>
          </a:prstGeom>
          <a:solidFill>
            <a:srgbClr val="FFF3E6"/>
          </a:solidFill>
          <a:ln cap="flat" cmpd="sng" w="95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0058400" y="1600200"/>
            <a:ext cx="256032" cy="256032"/>
          </a:xfrm>
          <a:prstGeom prst="rect">
            <a:avLst/>
          </a:prstGeom>
          <a:solidFill>
            <a:srgbClr val="5B647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0387584" y="160934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0058400" y="1984248"/>
            <a:ext cx="1097280" cy="228600"/>
          </a:xfrm>
          <a:prstGeom prst="rect">
            <a:avLst/>
          </a:prstGeom>
          <a:solidFill>
            <a:srgbClr val="F2F3F5"/>
          </a:solidFill>
          <a:ln cap="flat" cmpd="sng" w="9525">
            <a:solidFill>
              <a:srgbClr val="5B64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PRÓXIMO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31520" y="2788920"/>
            <a:ext cx="3429000" cy="214884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CDE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31520" y="2788920"/>
            <a:ext cx="54864" cy="2148840"/>
          </a:xfrm>
          <a:prstGeom prst="rect">
            <a:avLst/>
          </a:prstGeom>
          <a:solidFill>
            <a:srgbClr val="2E9B68"/>
          </a:solidFill>
          <a:ln cap="flat" cmpd="sng" w="12700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932688" y="299008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Completado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32688" y="3355848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Backend Node/Express y PostgreSQL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Productos, categorías y variantes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Inventario Rancagua/Bodega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Ventas con descuento automático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Dashboard conectado y GitHub documentado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389120" y="2788920"/>
            <a:ext cx="3429000" cy="2148840"/>
          </a:xfrm>
          <a:prstGeom prst="rect">
            <a:avLst/>
          </a:prstGeom>
          <a:solidFill>
            <a:srgbClr val="FFF3E6"/>
          </a:solidFill>
          <a:ln cap="flat" cmpd="sng" w="12700">
            <a:solidFill>
              <a:srgbClr val="F4D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389120" y="2788920"/>
            <a:ext cx="54864" cy="2148840"/>
          </a:xfrm>
          <a:prstGeom prst="rect">
            <a:avLst/>
          </a:prstGeom>
          <a:solidFill>
            <a:srgbClr val="F28C28"/>
          </a:solidFill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90288" y="299008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En desarrollo / mejora</a:t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590288" y="3355848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Relación cliente–venta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Historial de ventas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Ventas con múltiples productos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Dashboard, filtros y reportes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Login real y roles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8046720" y="2788920"/>
            <a:ext cx="3429000" cy="2148840"/>
          </a:xfrm>
          <a:prstGeom prst="rect">
            <a:avLst/>
          </a:prstGeom>
          <a:solidFill>
            <a:srgbClr val="F3F5F8"/>
          </a:solidFill>
          <a:ln cap="flat" cmpd="sng" w="12700">
            <a:solidFill>
              <a:srgbClr val="DC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8046720" y="2788920"/>
            <a:ext cx="54864" cy="2148840"/>
          </a:xfrm>
          <a:prstGeom prst="rect">
            <a:avLst/>
          </a:prstGeom>
          <a:solidFill>
            <a:srgbClr val="5B6475"/>
          </a:solidFill>
          <a:ln cap="flat" cmpd="sng" w="12700">
            <a:solidFill>
              <a:srgbClr val="5B64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247888" y="299008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Pendiente / siguiente etapa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247888" y="3355848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Exportación PDF/Excel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Integración WooCommerce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Pruebas finales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Validación con Belén</a:t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1554480" y="54864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Estado actual: módulos principales operativos y etapa de mejora funcional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9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9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Arquitectura del software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ARQUITECTURA WEB PARA SEPARAR INTERFAZ, LÓGICA Y DATOS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777240" y="1600200"/>
            <a:ext cx="2240280" cy="338328"/>
          </a:xfrm>
          <a:prstGeom prst="rect">
            <a:avLst/>
          </a:prstGeom>
          <a:solidFill>
            <a:srgbClr val="FBE6F1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77240" y="2103120"/>
            <a:ext cx="22402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Belén / Vendedora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154680" y="2377440"/>
            <a:ext cx="256032" cy="320040"/>
          </a:xfrm>
          <a:prstGeom prst="chevron">
            <a:avLst>
              <a:gd fmla="val 50000" name="adj"/>
            </a:avLst>
          </a:prstGeom>
          <a:solidFill>
            <a:srgbClr val="C9CED8"/>
          </a:solidFill>
          <a:ln cap="flat" cmpd="sng" w="12700">
            <a:solidFill>
              <a:srgbClr val="C9C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566160" y="1600200"/>
            <a:ext cx="2240280" cy="338328"/>
          </a:xfrm>
          <a:prstGeom prst="rect">
            <a:avLst/>
          </a:prstGeom>
          <a:solidFill>
            <a:srgbClr val="EAF3FF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166AC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566160" y="2103120"/>
            <a:ext cx="22402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HTML5 · CSS3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943600" y="2377440"/>
            <a:ext cx="256032" cy="320040"/>
          </a:xfrm>
          <a:prstGeom prst="chevron">
            <a:avLst>
              <a:gd fmla="val 50000" name="adj"/>
            </a:avLst>
          </a:prstGeom>
          <a:solidFill>
            <a:srgbClr val="C9CED8"/>
          </a:solidFill>
          <a:ln cap="flat" cmpd="sng" w="12700">
            <a:solidFill>
              <a:srgbClr val="C9C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355080" y="1600200"/>
            <a:ext cx="2240280" cy="338328"/>
          </a:xfrm>
          <a:prstGeom prst="rect">
            <a:avLst/>
          </a:prstGeom>
          <a:solidFill>
            <a:srgbClr val="F0ECFF"/>
          </a:solidFill>
          <a:ln cap="flat" cmpd="sng" w="12700">
            <a:solidFill>
              <a:srgbClr val="6B4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4BD8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6B4BD8"/>
                </a:solidFill>
                <a:latin typeface="Arial"/>
                <a:ea typeface="Arial"/>
                <a:cs typeface="Arial"/>
                <a:sym typeface="Arial"/>
              </a:rPr>
              <a:t>Backend / API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355080" y="2103120"/>
            <a:ext cx="22402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Express.js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8732520" y="2377440"/>
            <a:ext cx="256032" cy="320040"/>
          </a:xfrm>
          <a:prstGeom prst="chevron">
            <a:avLst>
              <a:gd fmla="val 50000" name="adj"/>
            </a:avLst>
          </a:prstGeom>
          <a:solidFill>
            <a:srgbClr val="C9CED8"/>
          </a:solidFill>
          <a:ln cap="flat" cmpd="sng" w="12700">
            <a:solidFill>
              <a:srgbClr val="C9C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9144000" y="1600200"/>
            <a:ext cx="2240280" cy="338328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B68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E9B68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9144000" y="2103120"/>
            <a:ext cx="224028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960120" y="3749040"/>
            <a:ext cx="4937760" cy="1325880"/>
          </a:xfrm>
          <a:prstGeom prst="rect">
            <a:avLst/>
          </a:prstGeom>
          <a:solidFill>
            <a:srgbClr val="FFF7FB"/>
          </a:solidFill>
          <a:ln cap="flat" cmpd="sng" w="12700">
            <a:solidFill>
              <a:srgbClr val="F5C4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960120" y="3749040"/>
            <a:ext cx="54864" cy="1325880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1161288" y="3950208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161288" y="4315968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Chart.js para visualizar indicadores de ventas, stock y rotación.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309360" y="3749040"/>
            <a:ext cx="4937760" cy="1325880"/>
          </a:xfrm>
          <a:prstGeom prst="rect">
            <a:avLst/>
          </a:prstGeom>
          <a:solidFill>
            <a:srgbClr val="F3F5F8"/>
          </a:solidFill>
          <a:ln cap="flat" cmpd="sng" w="12700">
            <a:solidFill>
              <a:srgbClr val="DC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309360" y="3749040"/>
            <a:ext cx="54864" cy="1325880"/>
          </a:xfrm>
          <a:prstGeom prst="rect">
            <a:avLst/>
          </a:prstGeom>
          <a:solidFill>
            <a:srgbClr val="5B6475"/>
          </a:solidFill>
          <a:ln cap="flat" cmpd="sng" w="12700">
            <a:solidFill>
              <a:srgbClr val="5B64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510528" y="3950208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Canal online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510528" y="4315968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Integración futura mediante API, sujeta a compatibilidad técnica.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14400" y="5486400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La separación por capas facilita el mantenimiento, las pruebas y posibles mejoras futuras.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10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0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Modelo de datos — En desarrollo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ESTRUCTURA AJUSTADA CON INFORMACIÓN REAL DE BIG CURVAS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731520" y="1508760"/>
            <a:ext cx="2240280" cy="502920"/>
          </a:xfrm>
          <a:prstGeom prst="rect">
            <a:avLst/>
          </a:prstGeom>
          <a:solidFill>
            <a:srgbClr val="FBE6F1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3520440" y="1508760"/>
            <a:ext cx="2240280" cy="502920"/>
          </a:xfrm>
          <a:prstGeom prst="rect">
            <a:avLst/>
          </a:prstGeom>
          <a:solidFill>
            <a:srgbClr val="FBE6F1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6309360" y="1508760"/>
            <a:ext cx="2240280" cy="502920"/>
          </a:xfrm>
          <a:prstGeom prst="rect">
            <a:avLst/>
          </a:prstGeom>
          <a:solidFill>
            <a:srgbClr val="FBE6F1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Categoría</a:t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9098280" y="1508760"/>
            <a:ext cx="2240280" cy="502920"/>
          </a:xfrm>
          <a:prstGeom prst="rect">
            <a:avLst/>
          </a:prstGeom>
          <a:solidFill>
            <a:srgbClr val="FBE6F1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731520" y="2468880"/>
            <a:ext cx="2240280" cy="502920"/>
          </a:xfrm>
          <a:prstGeom prst="rect">
            <a:avLst/>
          </a:prstGeom>
          <a:solidFill>
            <a:srgbClr val="EAF3FF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Variante</a:t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3520440" y="2468880"/>
            <a:ext cx="2240280" cy="502920"/>
          </a:xfrm>
          <a:prstGeom prst="rect">
            <a:avLst/>
          </a:prstGeom>
          <a:solidFill>
            <a:srgbClr val="EAF3FF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Sucursal</a:t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6309360" y="2468880"/>
            <a:ext cx="2240280" cy="502920"/>
          </a:xfrm>
          <a:prstGeom prst="rect">
            <a:avLst/>
          </a:prstGeom>
          <a:solidFill>
            <a:srgbClr val="EAF3FF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9098280" y="2468880"/>
            <a:ext cx="2240280" cy="502920"/>
          </a:xfrm>
          <a:prstGeom prst="rect">
            <a:avLst/>
          </a:prstGeom>
          <a:solidFill>
            <a:srgbClr val="EAF3FF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Venta</a:t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777240" y="3657600"/>
            <a:ext cx="5074920" cy="150876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CDE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777240" y="3657600"/>
            <a:ext cx="54864" cy="1508760"/>
          </a:xfrm>
          <a:prstGeom prst="rect">
            <a:avLst/>
          </a:prstGeom>
          <a:solidFill>
            <a:srgbClr val="2E9B68"/>
          </a:solidFill>
          <a:ln cap="flat" cmpd="sng" w="12700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978408" y="385876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Datos de producto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978408" y="4224528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Categoría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Nombre/modelo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Talla y color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Precio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Estado activo/inactivo</a:t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6309360" y="3657600"/>
            <a:ext cx="5074920" cy="1508760"/>
          </a:xfrm>
          <a:prstGeom prst="rect">
            <a:avLst/>
          </a:prstGeom>
          <a:solidFill>
            <a:srgbClr val="F0ECFF"/>
          </a:solidFill>
          <a:ln cap="flat" cmpd="sng" w="12700">
            <a:solidFill>
              <a:srgbClr val="DAD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309360" y="3657600"/>
            <a:ext cx="54864" cy="1508760"/>
          </a:xfrm>
          <a:prstGeom prst="rect">
            <a:avLst/>
          </a:prstGeom>
          <a:solidFill>
            <a:srgbClr val="6B4BD8"/>
          </a:solidFill>
          <a:ln cap="flat" cmpd="sng" w="12700">
            <a:solidFill>
              <a:srgbClr val="6B4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510528" y="385876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Datos de inventario / cliente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510528" y="4224528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Stock por Rancagua/Bodega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Stock mínimo opcional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Cliente: nombre, RUT, correo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Teléfono, dirección y comuna</a:t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1005840" y="56235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Modelo implementado en PostgreSQL y en ajuste para historial de ventas, cliente asociado y ventas con múltiples productos.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11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11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Tecnologías utilizadas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STACK DEFINIDO COMO BASE PARA EL PROTOTIPO Y EL DESARROLLO COMPLETO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188720" y="1600200"/>
            <a:ext cx="411480" cy="41148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594360" y="214884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66AC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166AC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594360" y="2651760"/>
            <a:ext cx="1600200" cy="1005840"/>
          </a:xfrm>
          <a:prstGeom prst="rect">
            <a:avLst/>
          </a:prstGeom>
          <a:solidFill>
            <a:srgbClr val="EAF3FF"/>
          </a:solidFill>
          <a:ln cap="flat" cmpd="sng" w="12700">
            <a:solidFill>
              <a:srgbClr val="216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HTML5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CSS3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3520440" y="1600200"/>
            <a:ext cx="411480" cy="411480"/>
          </a:xfrm>
          <a:prstGeom prst="rect">
            <a:avLst/>
          </a:prstGeom>
          <a:solidFill>
            <a:srgbClr val="6B4B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2926080" y="214884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4BD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6B4BD8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926080" y="2651760"/>
            <a:ext cx="1600200" cy="1005840"/>
          </a:xfrm>
          <a:prstGeom prst="rect">
            <a:avLst/>
          </a:prstGeom>
          <a:solidFill>
            <a:srgbClr val="F0ECFF"/>
          </a:solidFill>
          <a:ln cap="flat" cmpd="sng" w="12700">
            <a:solidFill>
              <a:srgbClr val="6B4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Express.js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5852160" y="1600200"/>
            <a:ext cx="411480" cy="411480"/>
          </a:xfrm>
          <a:prstGeom prst="rect">
            <a:avLst/>
          </a:prstGeom>
          <a:solidFill>
            <a:srgbClr val="2E9B6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257800" y="214884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B6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E9B68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5257800" y="2651760"/>
            <a:ext cx="1600200" cy="100584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8183880" y="1600200"/>
            <a:ext cx="411480" cy="411480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7589520" y="214884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7589520" y="2651760"/>
            <a:ext cx="1600200" cy="1005840"/>
          </a:xfrm>
          <a:prstGeom prst="rect">
            <a:avLst/>
          </a:prstGeom>
          <a:solidFill>
            <a:srgbClr val="FBE6F1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Chart.js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10515600" y="1600200"/>
            <a:ext cx="411480" cy="4114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9921240" y="214884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Herramientas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9921240" y="2651760"/>
            <a:ext cx="1600200" cy="1005840"/>
          </a:xfrm>
          <a:prstGeom prst="rect">
            <a:avLst/>
          </a:prstGeom>
          <a:solidFill>
            <a:srgbClr val="FFF3E6"/>
          </a:solidFill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Postman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097280" y="4754880"/>
            <a:ext cx="9966960" cy="777240"/>
          </a:xfrm>
          <a:prstGeom prst="rect">
            <a:avLst/>
          </a:prstGeom>
          <a:solidFill>
            <a:srgbClr val="FAFAFC"/>
          </a:solidFill>
          <a:ln cap="flat" cmpd="sng" w="12700">
            <a:solidFill>
              <a:srgbClr val="E5E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1097280" y="4754880"/>
            <a:ext cx="54864" cy="777240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298448" y="4956048"/>
            <a:ext cx="9646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Criterio de selección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1298448" y="5321808"/>
            <a:ext cx="964692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22"/>
              <a:buFont typeface="Arial"/>
              <a:buNone/>
            </a:pPr>
            <a:r>
              <a:rPr lang="en-US" sz="723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Tecnologías orientadas a una solución web simple, mantenible y adecuada para la gestión de ventas e inventario.</a:t>
            </a:r>
            <a:endParaRPr sz="72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12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2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Mockups validados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BASE VISUAL DEL SISTEMA ANTES DE PASAR A DESARROLLO FUNCIONAL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1186726" y="3979504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843113" y="3979501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3854391" y="619506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Registrar venta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968723" y="6414983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Los mockups fueron presentados a Belén y validados como claros y acordes a las necesidades actuales de Big Curvas.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271" y="1481328"/>
            <a:ext cx="4403031" cy="2478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2203" y="1488418"/>
            <a:ext cx="4426238" cy="2491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0839" y="4117248"/>
            <a:ext cx="3766328" cy="2119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13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3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Nivel de madurez del proyecto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ESTADO REAL DE LA SOLUCIÓN A LA FECHA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731520" y="1691640"/>
            <a:ext cx="3520440" cy="393192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CDE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731520" y="1691640"/>
            <a:ext cx="54864" cy="3931920"/>
          </a:xfrm>
          <a:prstGeom prst="rect">
            <a:avLst/>
          </a:prstGeom>
          <a:solidFill>
            <a:srgbClr val="2E9B68"/>
          </a:solidFill>
          <a:ln cap="flat" cmpd="sng" w="12700">
            <a:solidFill>
              <a:srgbClr val="2E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932688" y="189280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Implementado y operativo</a:t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932688" y="2258568"/>
            <a:ext cx="320040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Login visual básico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Dashboard con datos reales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Productos, categorías y variantes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Inventario Rancagua/Bodega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Ventas con descuento de stock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Clientes y GitHub/README</a:t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4343400" y="1691640"/>
            <a:ext cx="3520440" cy="3931920"/>
          </a:xfrm>
          <a:prstGeom prst="rect">
            <a:avLst/>
          </a:prstGeom>
          <a:solidFill>
            <a:srgbClr val="FFF3E6"/>
          </a:solidFill>
          <a:ln cap="flat" cmpd="sng" w="12700">
            <a:solidFill>
              <a:srgbClr val="F4D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343400" y="1691640"/>
            <a:ext cx="54864" cy="3931920"/>
          </a:xfrm>
          <a:prstGeom prst="rect">
            <a:avLst/>
          </a:prstGeom>
          <a:solidFill>
            <a:srgbClr val="F28C28"/>
          </a:solidFill>
          <a:ln cap="flat" cmpd="sng" w="127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544568" y="189280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En desarrollo / mejora</a:t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4544568" y="2258568"/>
            <a:ext cx="320040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Relación cliente–venta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Historial de ventas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Venta con múltiples productos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Más indicadores y gráficos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Filtros y diseño visual</a:t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7955280" y="1691640"/>
            <a:ext cx="3520440" cy="3931920"/>
          </a:xfrm>
          <a:prstGeom prst="rect">
            <a:avLst/>
          </a:prstGeom>
          <a:solidFill>
            <a:srgbClr val="F3F5F8"/>
          </a:solidFill>
          <a:ln cap="flat" cmpd="sng" w="12700">
            <a:solidFill>
              <a:srgbClr val="DC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7955280" y="1691640"/>
            <a:ext cx="54864" cy="3931920"/>
          </a:xfrm>
          <a:prstGeom prst="rect">
            <a:avLst/>
          </a:prstGeom>
          <a:solidFill>
            <a:srgbClr val="5B6475"/>
          </a:solidFill>
          <a:ln cap="flat" cmpd="sng" w="12700">
            <a:solidFill>
              <a:srgbClr val="5B64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8156448" y="189280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Pendiente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8156448" y="2258568"/>
            <a:ext cx="320040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Login real con roles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Reportes PDF/Excel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Integración WooCommerce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Pruebas y validación final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Demo final estable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14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14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Propuesta de valor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502920" y="1252728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VALOR QUE ENTREGA LA SOLUCIÓN A BIG CURVAS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822960" y="1691640"/>
            <a:ext cx="347472" cy="347472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325880" y="170078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Menos sobreventas</a:t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3429000" y="1700784"/>
            <a:ext cx="7543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Descuento automático del stock al registrar ventas.</a:t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822960" y="2441448"/>
            <a:ext cx="347472" cy="347472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325880" y="245059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Control por sucursal</a:t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3429000" y="2450592"/>
            <a:ext cx="7543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Stock visible para Rancagua y Bodega.</a:t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822960" y="3191256"/>
            <a:ext cx="347472" cy="347472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325880" y="32004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Mejor reposición</a:t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3429000" y="3200400"/>
            <a:ext cx="7543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Stock mínimo y datos para decidir compras.</a:t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822960" y="3941064"/>
            <a:ext cx="347472" cy="347472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1325880" y="395020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Gestión de clientes</a:t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3429000" y="3950208"/>
            <a:ext cx="7543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Clientes activos/inactivos centralizados.</a:t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822960" y="4690872"/>
            <a:ext cx="347472" cy="347472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325880" y="470001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Gestión escalable</a:t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3429000" y="4700016"/>
            <a:ext cx="7543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Base para reportes, roles e integración WooCommerce.</a:t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La solución no solo digitaliza el proceso: entrega información útil para controlar ventas, stock y reposición.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5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15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Obstáculos y desafíos actuales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02920" y="1874520"/>
            <a:ext cx="3557930" cy="3017520"/>
          </a:xfrm>
          <a:prstGeom prst="rect">
            <a:avLst/>
          </a:prstGeom>
          <a:solidFill>
            <a:srgbClr val="FFF3E6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731520" y="21031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731520" y="2468880"/>
            <a:ext cx="310073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Ventas avanzadas</a:t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731520" y="2907792"/>
            <a:ext cx="310073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Conectar clientes con ventas, registrar historial y permitir múltiples productos por venta.</a:t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4316882" y="1874520"/>
            <a:ext cx="3557930" cy="3017520"/>
          </a:xfrm>
          <a:prstGeom prst="rect">
            <a:avLst/>
          </a:prstGeom>
          <a:solidFill>
            <a:srgbClr val="F0ECFF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4545482" y="21031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BD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6B4BD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545482" y="2468880"/>
            <a:ext cx="310073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Seguridad y roles</a:t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4545482" y="2907792"/>
            <a:ext cx="310073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Implementar login real y permisos diferenciados para administradora y vendedora.</a:t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8130845" y="1874520"/>
            <a:ext cx="3557930" cy="3017520"/>
          </a:xfrm>
          <a:prstGeom prst="rect">
            <a:avLst/>
          </a:prstGeom>
          <a:solidFill>
            <a:srgbClr val="EAF7F1"/>
          </a:solidFill>
          <a:ln cap="flat" cmpd="sng" w="1270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8359445" y="21031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B6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E9B6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8359445" y="2468880"/>
            <a:ext cx="310073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Integración y reportes</a:t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8359445" y="2907792"/>
            <a:ext cx="310073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Evaluar WooCommerce y completar reportes, filtros y exportaciones del sistema.</a:t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1097280" y="557784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Estos desafíos se abordan priorizando el núcleo funcional, validaciones con la empresa y mejoras incrementales.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16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16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02920" y="74980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Próximos pasos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1097280" y="1417320"/>
            <a:ext cx="292608" cy="292608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1572768" y="1435608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Conectar clientes con ventas</a:t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6309360" y="1417320"/>
            <a:ext cx="292608" cy="292608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6784848" y="1435608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Ventas múltiples + historial</a:t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1097280" y="2167128"/>
            <a:ext cx="292608" cy="292608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1572768" y="2185416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Mejorar dashboard y gráficos</a:t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6309360" y="2167128"/>
            <a:ext cx="292608" cy="292608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6784848" y="2185416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Reportes y exportación PDF/Excel</a:t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1097280" y="2916936"/>
            <a:ext cx="292608" cy="292608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1572768" y="293522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Login real y roles</a:t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6309360" y="2916936"/>
            <a:ext cx="292608" cy="292608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6784848" y="293522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Filtros, buscadores y diseño visual</a:t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1097280" y="3666744"/>
            <a:ext cx="292608" cy="292608"/>
          </a:xfrm>
          <a:prstGeom prst="rect">
            <a:avLst/>
          </a:prstGeom>
          <a:solidFill>
            <a:srgbClr val="E43A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1572768" y="368503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WooCommerce, pruebas y validación final</a:t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960120" y="5577840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Siguiente foco: completar mejoras críticas y preparar una demostración estable para la presentación final.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A8C"/>
          </a:solidFill>
          <a:ln cap="flat" cmpd="sng" w="12700">
            <a:solidFill>
              <a:srgbClr val="E43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502920" y="22860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503"/>
              <a:buFont typeface="Arial"/>
              <a:buNone/>
            </a:pPr>
            <a:r>
              <a:rPr b="1" lang="en-US" sz="504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PROYECTO BIG CURVAS</a:t>
            </a:r>
            <a:endParaRPr sz="50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17"/>
          <p:cNvCxnSpPr/>
          <p:nvPr/>
        </p:nvCxnSpPr>
        <p:spPr>
          <a:xfrm>
            <a:off x="502920" y="448056"/>
            <a:ext cx="11185855" cy="0"/>
          </a:xfrm>
          <a:prstGeom prst="straightConnector1">
            <a:avLst/>
          </a:prstGeom>
          <a:noFill/>
          <a:ln cap="flat" cmpd="sng" w="10150">
            <a:solidFill>
              <a:srgbClr val="E8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17"/>
          <p:cNvSpPr/>
          <p:nvPr/>
        </p:nvSpPr>
        <p:spPr>
          <a:xfrm>
            <a:off x="9326880" y="201168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C2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10561320" y="164592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ESCUELA DE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INFORMÁTICA Y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490"/>
              <a:buFont typeface="Arial"/>
              <a:buNone/>
            </a:pPr>
            <a:r>
              <a:rPr lang="en-US" sz="490">
                <a:solidFill>
                  <a:srgbClr val="5B6475"/>
                </a:solidFill>
                <a:latin typeface="Arial"/>
                <a:ea typeface="Arial"/>
                <a:cs typeface="Arial"/>
                <a:sym typeface="Arial"/>
              </a:rPr>
              <a:t>TELECOMUNICACIONES</a:t>
            </a:r>
            <a:endParaRPr sz="49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11475720" y="63550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E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9AA2AE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822960" y="2148840"/>
            <a:ext cx="10515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Muchas gracias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822960" y="30175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3A8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43A8C"/>
                </a:solidFill>
                <a:latin typeface="Arial"/>
                <a:ea typeface="Arial"/>
                <a:cs typeface="Arial"/>
                <a:sym typeface="Arial"/>
              </a:rPr>
              <a:t>Proyecto Big Curvas · Capstone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2026-10-13T19:34:29Z</dcterms:created>
  <dc:creator>OpenAI</dc:creator>
</cp:coreProperties>
</file>